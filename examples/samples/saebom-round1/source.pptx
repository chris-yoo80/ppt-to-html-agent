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병원 운영위원회 보고, 15분. 결과를 먼저 말하고 하반기 안내 인력 예산 승인을 요청한다.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대기시간은 접수 대기 + 진료 대기 + 수납 대기의 합. 진료 시간은 제외.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민원 데이터는 2025년 하반기 6개월 기준.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이전 = 2025년 하반기 평균, 이후 = 2026년 6월.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조치 모두 3월에 1차 도입, 4–5월 안정화.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5개 과 단순 평균이 전체 평균과 같다(42분 → 26분).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2026년 6월 설문 응답 1,200명. 이전 값은 2025년 12월 조사.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고령 환자 모바일 이용률이 낮아 현장 안내가 필요하다는 의견이 많았음.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안내 인력 1인당 연 4,000만 원 기준.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04650"/>
                </a:solidFill>
              </a:rPr>
              <a:t>새봄병원 외래 대기시간 단축 프로젝트 결과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5A5A5A"/>
                </a:solidFill>
              </a:rPr>
              <a:t>2026년 상반기 · 운영혁신팀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69696"/>
                </a:solidFill>
              </a:rPr>
              <a:t>※ 가상 자료: 실제 병원·환자·성과가 아닙니다.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04650"/>
                </a:solidFill>
              </a:rPr>
              <a:t>핵심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222222"/>
                </a:solidFill>
              </a:rPr>
              <a:t>외래 평균 대기시간 42분 → 26분 (−38.1%), 목표 30분 이하 달성</a:t>
            </a:r>
          </a:p>
          <a:p>
            <a:r>
              <a:rPr sz="2200" b="0">
                <a:solidFill>
                  <a:srgbClr val="222222"/>
                </a:solidFill>
              </a:rPr>
              <a:t>환자 전반 만족도 3.4점 → 4.2점 (5점 만점)</a:t>
            </a:r>
          </a:p>
          <a:p>
            <a:r>
              <a:rPr sz="2200" b="0">
                <a:solidFill>
                  <a:srgbClr val="222222"/>
                </a:solidFill>
              </a:rPr>
              <a:t>예약 부도(노쇼)율 9.0% → 6.5%</a:t>
            </a:r>
          </a:p>
          <a:p>
            <a:r>
              <a:rPr sz="2200" b="0">
                <a:solidFill>
                  <a:srgbClr val="222222"/>
                </a:solidFill>
              </a:rPr>
              <a:t>투자 1억 8,000만 원 (모바일 앱, 키오스크, 예약 시스템)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04650"/>
                </a:solidFill>
              </a:rPr>
              <a:t>추진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222222"/>
                </a:solidFill>
              </a:rPr>
              <a:t>하루 외래 환자 약 1,850명</a:t>
            </a:r>
          </a:p>
          <a:p>
            <a:r>
              <a:rPr sz="2200" b="0">
                <a:solidFill>
                  <a:srgbClr val="222222"/>
                </a:solidFill>
              </a:rPr>
              <a:t>2025년 하반기 민원 412건 중 대기 관련 186건 (45.1%), 민원 1위</a:t>
            </a:r>
          </a:p>
          <a:p>
            <a:r>
              <a:rPr sz="2200" b="0">
                <a:solidFill>
                  <a:srgbClr val="222222"/>
                </a:solidFill>
              </a:rPr>
              <a:t>대기 중 이탈·불만이 재방문 의향 하락으로 이어짐</a:t>
            </a:r>
          </a:p>
          <a:p>
            <a:r>
              <a:rPr sz="2200" b="0">
                <a:solidFill>
                  <a:srgbClr val="222222"/>
                </a:solidFill>
              </a:rPr>
              <a:t>목표: 평균 대기 30분 이하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04650"/>
                </a:solidFill>
              </a:rPr>
              <a:t>대기 단계별 현황과 개선 결과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55448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/>
                        <a:t>단계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이전(분)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이후(분)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변화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/>
                        <a:t>접수 대기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−6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/>
                        <a:t>진료 대기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−7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/>
                        <a:t>수납 대기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−3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/>
                        <a:t>합계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−16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04650"/>
                </a:solidFill>
              </a:rPr>
              <a:t>개선 조치와 투자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55448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/>
                        <a:t>조치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대상 단계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투자(만 원)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/>
                        <a:t>모바일 사전 접수 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접수 대기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9,000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/>
                        <a:t>키오스크 6대·모바일 수납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수납 대기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6,000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/>
                        <a:t>15분 단위 진료 예약 슬롯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진료 대기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3,000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/>
                        <a:t>합계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18,000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04650"/>
                </a:solidFill>
              </a:rPr>
              <a:t>진료과별 평균 대기시간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55448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/>
                        <a:t>진료과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이전(분)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이후(분)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/>
                        <a:t>내과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33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/>
                        <a:t>정형외과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29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/>
                        <a:t>소아청소년과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24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/>
                        <a:t>피부과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24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/>
                        <a:t>안과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20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04650"/>
                </a:solidFill>
              </a:rPr>
              <a:t>월별 평균 대기시간 추이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554480"/>
          <a:ext cx="109728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542"/>
                <a:gridCol w="1567542"/>
                <a:gridCol w="1567542"/>
                <a:gridCol w="1567542"/>
                <a:gridCol w="1567542"/>
                <a:gridCol w="1567542"/>
                <a:gridCol w="1567548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/>
                        <a:t>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1월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2월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3월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4월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5월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6월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/>
                        <a:t>평균 대기(분)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26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2918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3월 모바일 접수·키오스크 도입 이후 하락, 6월 26분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04650"/>
                </a:solidFill>
              </a:rPr>
              <a:t>환자 만족도 조사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55448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이전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이후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/>
                        <a:t>대기 만족도(5점)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3.9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/>
                        <a:t>전반 만족도(5점)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4.2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/>
                        <a:t>재방문 의향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/>
                        <a:t>84%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04650"/>
                </a:solidFill>
              </a:rPr>
              <a:t>이용률과 남은 과제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222222"/>
                </a:solidFill>
              </a:rPr>
              <a:t>모바일 사전 접수 이용률 38%</a:t>
            </a:r>
          </a:p>
          <a:p>
            <a:r>
              <a:rPr sz="2200" b="0">
                <a:solidFill>
                  <a:srgbClr val="222222"/>
                </a:solidFill>
              </a:rPr>
              <a:t>키오스크·모바일 수납 이용률 52%</a:t>
            </a:r>
          </a:p>
          <a:p>
            <a:r>
              <a:rPr sz="2200" b="0">
                <a:solidFill>
                  <a:srgbClr val="222222"/>
                </a:solidFill>
              </a:rPr>
              <a:t>65세 이상 환자 모바일 접수 이용률 12%</a:t>
            </a:r>
          </a:p>
          <a:p>
            <a:r>
              <a:rPr sz="2200" b="0">
                <a:solidFill>
                  <a:srgbClr val="222222"/>
                </a:solidFill>
              </a:rPr>
              <a:t>과제: 고령 환자는 여전히 창구 대기 → 현장 안내 필요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04650"/>
                </a:solidFill>
              </a:rPr>
              <a:t>하반기 계획과 요청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222222"/>
                </a:solidFill>
              </a:rPr>
              <a:t>하반기 목표: 평균 대기 22분</a:t>
            </a:r>
          </a:p>
          <a:p>
            <a:r>
              <a:rPr sz="2200" b="0">
                <a:solidFill>
                  <a:srgbClr val="222222"/>
                </a:solidFill>
              </a:rPr>
              <a:t>고령 환자 디지털 안내 인력 4명 배치: 연 1억 6,000만 원</a:t>
            </a:r>
          </a:p>
          <a:p>
            <a:r>
              <a:rPr sz="2200" b="0">
                <a:solidFill>
                  <a:srgbClr val="222222"/>
                </a:solidFill>
              </a:rPr>
              <a:t>검사실(채혈·영상) 대기 개선 착수</a:t>
            </a:r>
          </a:p>
          <a:p>
            <a:r>
              <a:rPr sz="2200" b="0">
                <a:solidFill>
                  <a:srgbClr val="222222"/>
                </a:solidFill>
              </a:rPr>
              <a:t>요청: 안내 인력 예산 1억 6,000만 원 승인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69696"/>
                </a:solidFill>
              </a:rPr>
              <a:t>※ 가상 자료: 실제 병원·환자·성과가 아닙니다.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